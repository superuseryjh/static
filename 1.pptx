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75" cy="685798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619738" y="3360543"/>
            <a:ext cx="952500" cy="57150"/>
          </a:xfrm>
          <a:custGeom>
            <a:avLst/>
            <a:gdLst/>
            <a:ahLst/>
            <a:cxnLst/>
            <a:rect l="l" t="t" r="r" b="b"/>
            <a:pathLst>
              <a:path w="952500" h="57150">
                <a:moveTo>
                  <a:pt x="952498" y="57149"/>
                </a:moveTo>
                <a:lnTo>
                  <a:pt x="0" y="57149"/>
                </a:lnTo>
                <a:lnTo>
                  <a:pt x="0" y="0"/>
                </a:lnTo>
                <a:lnTo>
                  <a:pt x="952498" y="0"/>
                </a:lnTo>
                <a:lnTo>
                  <a:pt x="952498" y="57149"/>
                </a:lnTo>
                <a:close/>
              </a:path>
            </a:pathLst>
          </a:custGeom>
          <a:solidFill>
            <a:srgbClr val="00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90013" y="2239119"/>
            <a:ext cx="6722745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003366"/>
                </a:solidFill>
                <a:latin typeface="MS PGothic"/>
                <a:cs typeface="MS P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03366"/>
                </a:solidFill>
                <a:latin typeface="MS PGothic"/>
                <a:cs typeface="MS P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03366"/>
                </a:solidFill>
                <a:latin typeface="MS PGothic"/>
                <a:cs typeface="MS P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03366"/>
                </a:solidFill>
                <a:latin typeface="MS PGothic"/>
                <a:cs typeface="MS P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75" cy="68579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9298" y="542034"/>
            <a:ext cx="545274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003366"/>
                </a:solidFill>
                <a:latin typeface="MS PGothic"/>
                <a:cs typeface="MS P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398" y="2228100"/>
            <a:ext cx="11125200" cy="345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571498"/>
            <a:ext cx="11048977" cy="571498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756592" y="4363780"/>
            <a:ext cx="4679315" cy="857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00CCCC"/>
                </a:solidFill>
                <a:latin typeface="Microsoft JhengHei"/>
                <a:cs typeface="Microsoft JhengHei"/>
              </a:rPr>
              <a:t>化学实验报告 </a:t>
            </a:r>
            <a:r>
              <a:rPr dirty="0" sz="2100" spc="1605">
                <a:solidFill>
                  <a:srgbClr val="00CCCC"/>
                </a:solidFill>
                <a:latin typeface="Microsoft JhengHei"/>
                <a:cs typeface="Microsoft JhengHei"/>
              </a:rPr>
              <a:t>·</a:t>
            </a:r>
            <a:r>
              <a:rPr dirty="0" sz="2100" spc="-20">
                <a:solidFill>
                  <a:srgbClr val="00CCCC"/>
                </a:solidFill>
                <a:latin typeface="Microsoft JhengHei"/>
                <a:cs typeface="Microsoft JhengHei"/>
              </a:rPr>
              <a:t> 溶解度曲线与实验分析</a:t>
            </a:r>
            <a:endParaRPr sz="210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2100" spc="-20">
                <a:solidFill>
                  <a:srgbClr val="FFFFFF"/>
                </a:solidFill>
                <a:latin typeface="Microsoft JhengHei"/>
                <a:cs typeface="Microsoft JhengHei"/>
              </a:rPr>
              <a:t>姚靖昊</a:t>
            </a:r>
            <a:endParaRPr sz="21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86293" y="1737172"/>
            <a:ext cx="9048115" cy="1671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400" spc="165" b="1">
                <a:solidFill>
                  <a:srgbClr val="FFFFFF"/>
                </a:solidFill>
                <a:latin typeface="Microsoft JhengHei"/>
                <a:cs typeface="Microsoft JhengHei"/>
              </a:rPr>
              <a:t>测</a:t>
            </a:r>
            <a:r>
              <a:rPr dirty="0" sz="5400" spc="165">
                <a:solidFill>
                  <a:srgbClr val="FFFFFF"/>
                </a:solidFill>
              </a:rPr>
              <a:t>定</a:t>
            </a:r>
            <a:r>
              <a:rPr dirty="0" sz="5400" spc="165" b="1">
                <a:solidFill>
                  <a:srgbClr val="FFFFFF"/>
                </a:solidFill>
                <a:latin typeface="Microsoft JhengHei"/>
                <a:cs typeface="Microsoft JhengHei"/>
              </a:rPr>
              <a:t>氯</a:t>
            </a:r>
            <a:r>
              <a:rPr dirty="0" sz="5400" spc="165">
                <a:solidFill>
                  <a:srgbClr val="FFFFFF"/>
                </a:solidFill>
              </a:rPr>
              <a:t>化</a:t>
            </a:r>
            <a:r>
              <a:rPr dirty="0" sz="5400" spc="165" b="1">
                <a:solidFill>
                  <a:srgbClr val="FFFFFF"/>
                </a:solidFill>
                <a:latin typeface="Microsoft JhengHei"/>
                <a:cs typeface="Microsoft JhengHei"/>
              </a:rPr>
              <a:t>钠</a:t>
            </a:r>
            <a:r>
              <a:rPr dirty="0" sz="5400" spc="-10">
                <a:solidFill>
                  <a:srgbClr val="FFFFFF"/>
                </a:solidFill>
              </a:rPr>
              <a:t>在不同温度下的溶</a:t>
            </a:r>
            <a:endParaRPr sz="5400">
              <a:latin typeface="Microsoft JhengHei"/>
              <a:cs typeface="Microsoft JhengHei"/>
            </a:endParaRPr>
          </a:p>
          <a:p>
            <a:pPr algn="ctr" marL="128270">
              <a:lnSpc>
                <a:spcPct val="100000"/>
              </a:lnSpc>
            </a:pPr>
            <a:r>
              <a:rPr dirty="0" sz="5400" spc="-25">
                <a:solidFill>
                  <a:srgbClr val="FFFFFF"/>
                </a:solidFill>
              </a:rPr>
              <a:t>解度</a:t>
            </a:r>
            <a:endParaRPr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11384" y="3682345"/>
            <a:ext cx="756920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了解固体物质溶解度随温度变化的规律，是化学研究的基础技能。本次实验旨在通</a:t>
            </a:r>
            <a:endParaRPr sz="165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dirty="0" sz="1650" spc="-25">
                <a:solidFill>
                  <a:srgbClr val="444444"/>
                </a:solidFill>
                <a:latin typeface="Microsoft JhengHei"/>
                <a:cs typeface="Microsoft JhengHei"/>
              </a:rPr>
              <a:t>过定量⽅法测定氯化钠</a:t>
            </a:r>
            <a:r>
              <a:rPr dirty="0" sz="1650" spc="-20">
                <a:solidFill>
                  <a:srgbClr val="444444"/>
                </a:solidFill>
                <a:latin typeface="Microsoft JhengHei"/>
                <a:cs typeface="Microsoft JhengHei"/>
              </a:rPr>
              <a:t>（NaCl）</a:t>
            </a:r>
            <a:r>
              <a:rPr dirty="0" sz="1650" spc="-30">
                <a:solidFill>
                  <a:srgbClr val="444444"/>
                </a:solidFill>
                <a:latin typeface="Microsoft JhengHei"/>
                <a:cs typeface="Microsoft JhengHei"/>
              </a:rPr>
              <a:t>的溶解度数据。</a:t>
            </a:r>
            <a:endParaRPr sz="165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14"/>
              <a:t>第一部分： </a:t>
            </a:r>
            <a:r>
              <a:rPr dirty="0" sz="4500" spc="140" b="1">
                <a:latin typeface="Microsoft JhengHei"/>
                <a:cs typeface="Microsoft JhengHei"/>
              </a:rPr>
              <a:t>实验</a:t>
            </a:r>
            <a:r>
              <a:rPr dirty="0" sz="4500" spc="-10"/>
              <a:t>背景与目的</a:t>
            </a:r>
            <a:endParaRPr sz="45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2234650"/>
            <a:ext cx="5238739" cy="327241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37" y="2234650"/>
            <a:ext cx="5238739" cy="327241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01698" y="3810713"/>
            <a:ext cx="3856354" cy="113220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233679" indent="-220979">
              <a:lnSpc>
                <a:spcPct val="100000"/>
              </a:lnSpc>
              <a:spcBef>
                <a:spcPts val="1019"/>
              </a:spcBef>
              <a:buAutoNum type="arabicPeriod"/>
              <a:tabLst>
                <a:tab pos="233679" algn="l"/>
              </a:tabLst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掌握固体溶解度的测定⽅法。</a:t>
            </a:r>
            <a:endParaRPr sz="1650">
              <a:latin typeface="Microsoft JhengHei"/>
              <a:cs typeface="Microsoft JhengHei"/>
            </a:endParaRPr>
          </a:p>
          <a:p>
            <a:pPr marL="280035" indent="-220979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280035" algn="l"/>
              </a:tabLst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学习绘制溶解度曲线。</a:t>
            </a:r>
            <a:endParaRPr sz="1650">
              <a:latin typeface="Microsoft JhengHei"/>
              <a:cs typeface="Microsoft JhengHei"/>
            </a:endParaRPr>
          </a:p>
          <a:p>
            <a:pPr marL="280035" indent="-220979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280035" algn="l"/>
              </a:tabLst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验证氯化钠溶解度受温度影响的程度。</a:t>
            </a:r>
            <a:endParaRPr sz="1650">
              <a:latin typeface="Microsoft JhengHei"/>
              <a:cs typeface="Microsoft Jheng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11936" y="3928061"/>
            <a:ext cx="4474210" cy="1082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5">
                <a:solidFill>
                  <a:srgbClr val="444444"/>
                </a:solidFill>
                <a:latin typeface="Microsoft JhengHei"/>
                <a:cs typeface="Microsoft JhengHei"/>
              </a:rPr>
              <a:t>在⼀定温度下，某固态物质在</a:t>
            </a:r>
            <a:r>
              <a:rPr dirty="0" sz="1650" spc="-10">
                <a:solidFill>
                  <a:srgbClr val="444444"/>
                </a:solidFill>
                <a:latin typeface="Microsoft JhengHei"/>
                <a:cs typeface="Microsoft JhengHei"/>
              </a:rPr>
              <a:t>100g</a:t>
            </a:r>
            <a:r>
              <a:rPr dirty="0" sz="1650" spc="-30">
                <a:solidFill>
                  <a:srgbClr val="444444"/>
                </a:solidFill>
                <a:latin typeface="Microsoft JhengHei"/>
                <a:cs typeface="Microsoft JhengHei"/>
              </a:rPr>
              <a:t>溶剂⾥达到饱</a:t>
            </a:r>
            <a:endParaRPr sz="1650">
              <a:latin typeface="Microsoft JhengHei"/>
              <a:cs typeface="Microsoft JhengHei"/>
            </a:endParaRPr>
          </a:p>
          <a:p>
            <a:pPr marL="12700" marR="52705">
              <a:lnSpc>
                <a:spcPct val="160000"/>
              </a:lnSpc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和状态时所溶解的质量，叫做这种物质在这种溶</a:t>
            </a:r>
            <a:r>
              <a:rPr dirty="0" sz="1650" spc="-10">
                <a:solidFill>
                  <a:srgbClr val="444444"/>
                </a:solidFill>
                <a:latin typeface="Microsoft JhengHei"/>
                <a:cs typeface="Microsoft JhengHei"/>
              </a:rPr>
              <a:t>剂⾥的溶解度。</a:t>
            </a:r>
            <a:endParaRPr sz="1650">
              <a:latin typeface="Microsoft JhengHei"/>
              <a:cs typeface="Microsoft JhengHe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52744" y="2596594"/>
            <a:ext cx="476248" cy="47624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34407" y="2596594"/>
            <a:ext cx="533398" cy="4762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49298" y="542034"/>
            <a:ext cx="303784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 b="1">
                <a:latin typeface="Microsoft JhengHei"/>
                <a:cs typeface="Microsoft JhengHei"/>
              </a:rPr>
              <a:t>实验</a:t>
            </a:r>
            <a:r>
              <a:rPr dirty="0" spc="100"/>
              <a:t>目的与定</a:t>
            </a:r>
            <a:r>
              <a:rPr dirty="0" spc="-50" b="1">
                <a:latin typeface="Microsoft JhengHei"/>
                <a:cs typeface="Microsoft JhengHei"/>
              </a:rPr>
              <a:t>义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571498" y="571498"/>
            <a:ext cx="76200" cy="502920"/>
          </a:xfrm>
          <a:custGeom>
            <a:avLst/>
            <a:gdLst/>
            <a:ahLst/>
            <a:cxnLst/>
            <a:rect l="l" t="t" r="r" b="b"/>
            <a:pathLst>
              <a:path w="76200" h="502919">
                <a:moveTo>
                  <a:pt x="76199" y="502888"/>
                </a:moveTo>
                <a:lnTo>
                  <a:pt x="0" y="502888"/>
                </a:lnTo>
                <a:lnTo>
                  <a:pt x="0" y="0"/>
                </a:lnTo>
                <a:lnTo>
                  <a:pt x="76199" y="0"/>
                </a:lnTo>
                <a:lnTo>
                  <a:pt x="76199" y="502888"/>
                </a:lnTo>
                <a:close/>
              </a:path>
            </a:pathLst>
          </a:custGeom>
          <a:solidFill>
            <a:srgbClr val="00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628101" y="3297125"/>
            <a:ext cx="110934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65" b="1">
                <a:solidFill>
                  <a:srgbClr val="003366"/>
                </a:solidFill>
                <a:latin typeface="Microsoft JhengHei"/>
                <a:cs typeface="Microsoft JhengHei"/>
              </a:rPr>
              <a:t>实验</a:t>
            </a:r>
            <a:r>
              <a:rPr dirty="0" sz="2100" spc="-25">
                <a:solidFill>
                  <a:srgbClr val="003366"/>
                </a:solidFill>
                <a:latin typeface="MS PGothic"/>
                <a:cs typeface="MS PGothic"/>
              </a:rPr>
              <a:t>目的</a:t>
            </a:r>
            <a:endParaRPr sz="2100">
              <a:latin typeface="MS PGothic"/>
              <a:cs typeface="MS PGothic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300817" y="3297125"/>
            <a:ext cx="13925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65">
                <a:solidFill>
                  <a:srgbClr val="003366"/>
                </a:solidFill>
                <a:latin typeface="MS PGothic"/>
                <a:cs typeface="MS PGothic"/>
              </a:rPr>
              <a:t>溶解度定</a:t>
            </a:r>
            <a:r>
              <a:rPr dirty="0" sz="2100" spc="-50" b="1">
                <a:solidFill>
                  <a:srgbClr val="003366"/>
                </a:solidFill>
                <a:latin typeface="Microsoft JhengHei"/>
                <a:cs typeface="Microsoft JhengHei"/>
              </a:rPr>
              <a:t>义</a:t>
            </a:r>
            <a:endParaRPr sz="21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1498" y="2870144"/>
            <a:ext cx="11049000" cy="1343025"/>
            <a:chOff x="571498" y="2870144"/>
            <a:chExt cx="11049000" cy="13430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498" y="2870144"/>
              <a:ext cx="11048977" cy="1342422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248" y="3155893"/>
              <a:ext cx="10477478" cy="770923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558798" y="2132906"/>
            <a:ext cx="845566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5">
                <a:solidFill>
                  <a:srgbClr val="444444"/>
                </a:solidFill>
                <a:latin typeface="Microsoft JhengHei"/>
                <a:cs typeface="Microsoft JhengHei"/>
              </a:rPr>
              <a:t>通过称量饱和溶液中溶质和溶剂的质量，利⽤⽐例关系换算出</a:t>
            </a:r>
            <a:r>
              <a:rPr dirty="0" sz="1650" spc="-10">
                <a:solidFill>
                  <a:srgbClr val="444444"/>
                </a:solidFill>
                <a:latin typeface="Microsoft JhengHei"/>
                <a:cs typeface="Microsoft JhengHei"/>
              </a:rPr>
              <a:t>100g</a:t>
            </a:r>
            <a:r>
              <a:rPr dirty="0" sz="1650" spc="-30">
                <a:solidFill>
                  <a:srgbClr val="444444"/>
                </a:solidFill>
                <a:latin typeface="Microsoft JhengHei"/>
                <a:cs typeface="Microsoft JhengHei"/>
              </a:rPr>
              <a:t>溶剂中溶解溶质的质量。</a:t>
            </a:r>
            <a:endParaRPr sz="1650">
              <a:latin typeface="Microsoft JhengHei"/>
              <a:cs typeface="Microsoft Jheng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648" y="4667742"/>
            <a:ext cx="3587750" cy="755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必须保证溶液处于完全饱和状态。</a:t>
            </a:r>
            <a:endParaRPr sz="16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温度应在测量和取样过程中保持恒定。</a:t>
            </a:r>
            <a:endParaRPr sz="1650">
              <a:latin typeface="Microsoft JhengHei"/>
              <a:cs typeface="Microsoft JhengHe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498" y="4741215"/>
            <a:ext cx="180974" cy="2190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498" y="5219239"/>
            <a:ext cx="180974" cy="21907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9298" y="542034"/>
            <a:ext cx="387604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 b="1">
                <a:latin typeface="Microsoft JhengHei"/>
                <a:cs typeface="Microsoft JhengHei"/>
              </a:rPr>
              <a:t>实验</a:t>
            </a:r>
            <a:r>
              <a:rPr dirty="0" spc="100"/>
              <a:t>原理与</a:t>
            </a:r>
            <a:r>
              <a:rPr dirty="0" spc="100" b="1">
                <a:latin typeface="Microsoft JhengHei"/>
                <a:cs typeface="Microsoft JhengHei"/>
              </a:rPr>
              <a:t>计</a:t>
            </a:r>
            <a:r>
              <a:rPr dirty="0" spc="-20"/>
              <a:t>算公式</a:t>
            </a:r>
          </a:p>
        </p:txBody>
      </p:sp>
      <p:sp>
        <p:nvSpPr>
          <p:cNvPr id="10" name="object 10" descr=""/>
          <p:cNvSpPr/>
          <p:nvPr/>
        </p:nvSpPr>
        <p:spPr>
          <a:xfrm>
            <a:off x="571498" y="571498"/>
            <a:ext cx="76200" cy="502920"/>
          </a:xfrm>
          <a:custGeom>
            <a:avLst/>
            <a:gdLst/>
            <a:ahLst/>
            <a:cxnLst/>
            <a:rect l="l" t="t" r="r" b="b"/>
            <a:pathLst>
              <a:path w="76200" h="502919">
                <a:moveTo>
                  <a:pt x="76199" y="502888"/>
                </a:moveTo>
                <a:lnTo>
                  <a:pt x="0" y="502888"/>
                </a:lnTo>
                <a:lnTo>
                  <a:pt x="0" y="0"/>
                </a:lnTo>
                <a:lnTo>
                  <a:pt x="76199" y="0"/>
                </a:lnTo>
                <a:lnTo>
                  <a:pt x="76199" y="502888"/>
                </a:lnTo>
                <a:close/>
              </a:path>
            </a:pathLst>
          </a:custGeom>
          <a:solidFill>
            <a:srgbClr val="00CCC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2402230"/>
            <a:ext cx="3492542" cy="293725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791" y="2402230"/>
            <a:ext cx="3492542" cy="293725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8083" y="2402230"/>
            <a:ext cx="3492542" cy="293725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42992" y="4095643"/>
            <a:ext cx="274955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烧杯、酒精灯、三脚架、⽯棉</a:t>
            </a:r>
            <a:endParaRPr sz="165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dirty="0" sz="1650" spc="-10">
                <a:solidFill>
                  <a:srgbClr val="444444"/>
                </a:solidFill>
                <a:latin typeface="Microsoft JhengHei"/>
                <a:cs typeface="Microsoft JhengHei"/>
              </a:rPr>
              <a:t>⽹、玻璃棒。</a:t>
            </a:r>
            <a:endParaRPr sz="1650">
              <a:latin typeface="Microsoft JhengHei"/>
              <a:cs typeface="Microsoft Jheng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772940" y="4095643"/>
            <a:ext cx="264668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5">
                <a:solidFill>
                  <a:srgbClr val="444444"/>
                </a:solidFill>
                <a:latin typeface="Microsoft JhengHei"/>
                <a:cs typeface="Microsoft JhengHei"/>
              </a:rPr>
              <a:t>电⼦天平（精度</a:t>
            </a:r>
            <a:r>
              <a:rPr dirty="0" sz="1650" spc="-10">
                <a:solidFill>
                  <a:srgbClr val="444444"/>
                </a:solidFill>
                <a:latin typeface="Microsoft JhengHei"/>
                <a:cs typeface="Microsoft JhengHei"/>
              </a:rPr>
              <a:t>0.01g）</a:t>
            </a:r>
            <a:r>
              <a:rPr dirty="0" sz="1650" spc="-40">
                <a:solidFill>
                  <a:srgbClr val="444444"/>
                </a:solidFill>
                <a:latin typeface="Microsoft JhengHei"/>
                <a:cs typeface="Microsoft JhengHei"/>
              </a:rPr>
              <a:t>、温</a:t>
            </a:r>
            <a:endParaRPr sz="1650">
              <a:latin typeface="Microsoft JhengHei"/>
              <a:cs typeface="Microsoft JhengHei"/>
            </a:endParaRPr>
          </a:p>
          <a:p>
            <a:pPr marL="111125">
              <a:lnSpc>
                <a:spcPct val="100000"/>
              </a:lnSpc>
              <a:spcBef>
                <a:spcPts val="1185"/>
              </a:spcBef>
            </a:pPr>
            <a:r>
              <a:rPr dirty="0" sz="1650" spc="-40">
                <a:solidFill>
                  <a:srgbClr val="444444"/>
                </a:solidFill>
                <a:latin typeface="Microsoft JhengHei"/>
                <a:cs typeface="Microsoft JhengHei"/>
              </a:rPr>
              <a:t>度计</a:t>
            </a:r>
            <a:r>
              <a:rPr dirty="0" sz="1650" spc="-30">
                <a:solidFill>
                  <a:srgbClr val="444444"/>
                </a:solidFill>
                <a:latin typeface="Microsoft JhengHei"/>
                <a:cs typeface="Microsoft JhengHei"/>
              </a:rPr>
              <a:t>（0-100℃）</a:t>
            </a:r>
            <a:r>
              <a:rPr dirty="0" sz="1650" spc="-45">
                <a:solidFill>
                  <a:srgbClr val="444444"/>
                </a:solidFill>
                <a:latin typeface="Microsoft JhengHei"/>
                <a:cs typeface="Microsoft JhengHei"/>
              </a:rPr>
              <a:t>、量筒。</a:t>
            </a:r>
            <a:endParaRPr sz="1650">
              <a:latin typeface="Microsoft JhengHei"/>
              <a:cs typeface="Microsoft Jheng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646265" y="4095643"/>
            <a:ext cx="245618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50" spc="-25">
                <a:solidFill>
                  <a:srgbClr val="444444"/>
                </a:solidFill>
                <a:latin typeface="Microsoft JhengHei"/>
                <a:cs typeface="Microsoft JhengHei"/>
              </a:rPr>
              <a:t>粗盐/精盐</a:t>
            </a:r>
            <a:r>
              <a:rPr dirty="0" sz="1650" spc="-20">
                <a:solidFill>
                  <a:srgbClr val="444444"/>
                </a:solidFill>
                <a:latin typeface="Microsoft JhengHei"/>
                <a:cs typeface="Microsoft JhengHei"/>
              </a:rPr>
              <a:t>（NaCl）</a:t>
            </a:r>
            <a:r>
              <a:rPr dirty="0" sz="1650" spc="-35">
                <a:solidFill>
                  <a:srgbClr val="444444"/>
                </a:solidFill>
                <a:latin typeface="Microsoft JhengHei"/>
                <a:cs typeface="Microsoft JhengHei"/>
              </a:rPr>
              <a:t>、蒸馏</a:t>
            </a:r>
            <a:endParaRPr sz="165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dirty="0" sz="1650" spc="-25">
                <a:solidFill>
                  <a:srgbClr val="444444"/>
                </a:solidFill>
                <a:latin typeface="Microsoft JhengHei"/>
                <a:cs typeface="Microsoft JhengHei"/>
              </a:rPr>
              <a:t>⽔。</a:t>
            </a:r>
            <a:endParaRPr sz="1650">
              <a:latin typeface="Microsoft JhengHei"/>
              <a:cs typeface="Microsoft JhengHe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08145" y="2764169"/>
            <a:ext cx="419099" cy="4762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95938" y="2764169"/>
            <a:ext cx="600073" cy="4762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36156" y="2764169"/>
            <a:ext cx="476248" cy="47624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49298" y="542034"/>
            <a:ext cx="302514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 b="1">
                <a:latin typeface="Microsoft JhengHei"/>
                <a:cs typeface="Microsoft JhengHei"/>
              </a:rPr>
              <a:t>实验</a:t>
            </a:r>
            <a:r>
              <a:rPr dirty="0" spc="100"/>
              <a:t>器材与</a:t>
            </a:r>
            <a:r>
              <a:rPr dirty="0" spc="-25" b="1">
                <a:latin typeface="Microsoft JhengHei"/>
                <a:cs typeface="Microsoft JhengHei"/>
              </a:rPr>
              <a:t>试剂</a:t>
            </a:r>
          </a:p>
        </p:txBody>
      </p:sp>
      <p:sp>
        <p:nvSpPr>
          <p:cNvPr id="12" name="object 12" descr=""/>
          <p:cNvSpPr/>
          <p:nvPr/>
        </p:nvSpPr>
        <p:spPr>
          <a:xfrm>
            <a:off x="571498" y="571498"/>
            <a:ext cx="76200" cy="502920"/>
          </a:xfrm>
          <a:custGeom>
            <a:avLst/>
            <a:gdLst/>
            <a:ahLst/>
            <a:cxnLst/>
            <a:rect l="l" t="t" r="r" b="b"/>
            <a:pathLst>
              <a:path w="76200" h="502919">
                <a:moveTo>
                  <a:pt x="76199" y="502888"/>
                </a:moveTo>
                <a:lnTo>
                  <a:pt x="0" y="502888"/>
                </a:lnTo>
                <a:lnTo>
                  <a:pt x="0" y="0"/>
                </a:lnTo>
                <a:lnTo>
                  <a:pt x="76199" y="0"/>
                </a:lnTo>
                <a:lnTo>
                  <a:pt x="76199" y="502888"/>
                </a:lnTo>
                <a:close/>
              </a:path>
            </a:pathLst>
          </a:custGeom>
          <a:solidFill>
            <a:srgbClr val="00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617485" y="3464708"/>
            <a:ext cx="13925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65">
                <a:solidFill>
                  <a:srgbClr val="003366"/>
                </a:solidFill>
                <a:latin typeface="MS PGothic"/>
                <a:cs typeface="MS PGothic"/>
              </a:rPr>
              <a:t>加</a:t>
            </a:r>
            <a:r>
              <a:rPr dirty="0" sz="2100" spc="65" b="1">
                <a:solidFill>
                  <a:srgbClr val="003366"/>
                </a:solidFill>
                <a:latin typeface="Microsoft JhengHei"/>
                <a:cs typeface="Microsoft JhengHei"/>
              </a:rPr>
              <a:t>热</a:t>
            </a:r>
            <a:r>
              <a:rPr dirty="0" sz="2100" spc="65">
                <a:solidFill>
                  <a:srgbClr val="003366"/>
                </a:solidFill>
                <a:latin typeface="MS PGothic"/>
                <a:cs typeface="MS PGothic"/>
              </a:rPr>
              <a:t>与反</a:t>
            </a:r>
            <a:r>
              <a:rPr dirty="0" sz="2100" spc="-50" b="1">
                <a:solidFill>
                  <a:srgbClr val="003366"/>
                </a:solidFill>
                <a:latin typeface="Microsoft JhengHei"/>
                <a:cs typeface="Microsoft JhengHei"/>
              </a:rPr>
              <a:t>应</a:t>
            </a:r>
            <a:endParaRPr sz="2100">
              <a:latin typeface="Microsoft JhengHei"/>
              <a:cs typeface="Microsoft JhengHe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395776" y="3464708"/>
            <a:ext cx="13677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65" b="1">
                <a:solidFill>
                  <a:srgbClr val="003366"/>
                </a:solidFill>
                <a:latin typeface="Microsoft JhengHei"/>
                <a:cs typeface="Microsoft JhengHei"/>
              </a:rPr>
              <a:t>测</a:t>
            </a:r>
            <a:r>
              <a:rPr dirty="0" sz="2100" spc="-15">
                <a:solidFill>
                  <a:srgbClr val="003366"/>
                </a:solidFill>
                <a:latin typeface="MS PGothic"/>
                <a:cs typeface="MS PGothic"/>
              </a:rPr>
              <a:t>量与称量</a:t>
            </a:r>
            <a:endParaRPr sz="2100">
              <a:latin typeface="MS PGothic"/>
              <a:cs typeface="MS PGothic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174069" y="3464708"/>
            <a:ext cx="13843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65" b="1">
                <a:solidFill>
                  <a:srgbClr val="003366"/>
                </a:solidFill>
                <a:latin typeface="Microsoft JhengHei"/>
                <a:cs typeface="Microsoft JhengHei"/>
              </a:rPr>
              <a:t>样</a:t>
            </a:r>
            <a:r>
              <a:rPr dirty="0" sz="2100" spc="65">
                <a:solidFill>
                  <a:srgbClr val="003366"/>
                </a:solidFill>
                <a:latin typeface="MS PGothic"/>
                <a:cs typeface="MS PGothic"/>
              </a:rPr>
              <a:t>品与</a:t>
            </a:r>
            <a:r>
              <a:rPr dirty="0" sz="2100" spc="-25" b="1">
                <a:solidFill>
                  <a:srgbClr val="003366"/>
                </a:solidFill>
                <a:latin typeface="Microsoft JhengHei"/>
                <a:cs typeface="Microsoft JhengHei"/>
              </a:rPr>
              <a:t>试剂</a:t>
            </a:r>
            <a:endParaRPr sz="21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1498" y="3396693"/>
            <a:ext cx="11049000" cy="38100"/>
          </a:xfrm>
          <a:custGeom>
            <a:avLst/>
            <a:gdLst/>
            <a:ahLst/>
            <a:cxnLst/>
            <a:rect l="l" t="t" r="r" b="b"/>
            <a:pathLst>
              <a:path w="11049000" h="38100">
                <a:moveTo>
                  <a:pt x="11048977" y="38099"/>
                </a:moveTo>
                <a:lnTo>
                  <a:pt x="0" y="38099"/>
                </a:lnTo>
                <a:lnTo>
                  <a:pt x="0" y="0"/>
                </a:lnTo>
                <a:lnTo>
                  <a:pt x="11048977" y="0"/>
                </a:lnTo>
                <a:lnTo>
                  <a:pt x="11048977" y="38099"/>
                </a:lnTo>
                <a:close/>
              </a:path>
            </a:pathLst>
          </a:custGeom>
          <a:solidFill>
            <a:srgbClr val="E1E8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2526" y="4232816"/>
            <a:ext cx="228599" cy="2285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04581" y="4156660"/>
            <a:ext cx="2164715" cy="1082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100"/>
              </a:spcBef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在设定温度下不断加⼊</a:t>
            </a:r>
            <a:endParaRPr sz="1650">
              <a:latin typeface="Microsoft JhengHei"/>
              <a:cs typeface="Microsoft JhengHei"/>
            </a:endParaRPr>
          </a:p>
          <a:p>
            <a:pPr marL="872490" marR="5080" indent="-860425">
              <a:lnSpc>
                <a:spcPct val="160000"/>
              </a:lnSpc>
            </a:pPr>
            <a:r>
              <a:rPr dirty="0" sz="1650" spc="-10">
                <a:solidFill>
                  <a:srgbClr val="444444"/>
                </a:solidFill>
                <a:latin typeface="Microsoft JhengHei"/>
                <a:cs typeface="Microsoft JhengHei"/>
              </a:rPr>
              <a:t>NaCl</a:t>
            </a:r>
            <a:r>
              <a:rPr dirty="0" sz="1650" spc="-30">
                <a:solidFill>
                  <a:srgbClr val="444444"/>
                </a:solidFill>
                <a:latin typeface="Microsoft JhengHei"/>
                <a:cs typeface="Microsoft JhengHei"/>
              </a:rPr>
              <a:t>并搅拌直⾄不再溶</a:t>
            </a:r>
            <a:r>
              <a:rPr dirty="0" sz="1650" spc="-25">
                <a:solidFill>
                  <a:srgbClr val="444444"/>
                </a:solidFill>
                <a:latin typeface="Microsoft JhengHei"/>
                <a:cs typeface="Microsoft JhengHei"/>
              </a:rPr>
              <a:t>解。</a:t>
            </a:r>
            <a:endParaRPr sz="1650">
              <a:latin typeface="Microsoft JhengHei"/>
              <a:cs typeface="Microsoft JhengHe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5190" y="4232816"/>
            <a:ext cx="228599" cy="2285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494276" y="4156660"/>
            <a:ext cx="233045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快速取样并过滤掉未溶固</a:t>
            </a:r>
            <a:endParaRPr sz="1650">
              <a:latin typeface="Microsoft JhengHei"/>
              <a:cs typeface="Microsoft JhengHei"/>
            </a:endParaRPr>
          </a:p>
          <a:p>
            <a:pPr marL="116839">
              <a:lnSpc>
                <a:spcPct val="100000"/>
              </a:lnSpc>
              <a:spcBef>
                <a:spcPts val="1185"/>
              </a:spcBef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体，取饱和溶液称重。</a:t>
            </a:r>
            <a:endParaRPr sz="1650">
              <a:latin typeface="Microsoft JhengHei"/>
              <a:cs typeface="Microsoft JhengHe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17885" y="4232816"/>
            <a:ext cx="228599" cy="22859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366944" y="4156660"/>
            <a:ext cx="233045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将溶液置于蒸发⽫中加热</a:t>
            </a:r>
            <a:endParaRPr sz="1650">
              <a:latin typeface="Microsoft JhengHei"/>
              <a:cs typeface="Microsoft JhengHei"/>
            </a:endParaRPr>
          </a:p>
          <a:p>
            <a:pPr marL="116839">
              <a:lnSpc>
                <a:spcPct val="100000"/>
              </a:lnSpc>
              <a:spcBef>
                <a:spcPts val="1185"/>
              </a:spcBef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，直⾄溶剂完全挥发。</a:t>
            </a:r>
            <a:endParaRPr sz="1650">
              <a:latin typeface="Microsoft JhengHei"/>
              <a:cs typeface="Microsoft JhengHe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90554" y="4232816"/>
            <a:ext cx="228599" cy="22859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239621" y="4156660"/>
            <a:ext cx="233045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称量析出的固体质量，代</a:t>
            </a:r>
            <a:endParaRPr sz="165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dirty="0" sz="1650" spc="-10">
                <a:solidFill>
                  <a:srgbClr val="444444"/>
                </a:solidFill>
                <a:latin typeface="Microsoft JhengHei"/>
                <a:cs typeface="Microsoft JhengHei"/>
              </a:rPr>
              <a:t>⼊公式计算溶解度。</a:t>
            </a:r>
            <a:endParaRPr sz="165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49298" y="542034"/>
            <a:ext cx="256667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 b="1">
                <a:latin typeface="Microsoft JhengHei"/>
                <a:cs typeface="Microsoft JhengHei"/>
              </a:rPr>
              <a:t>实验</a:t>
            </a:r>
            <a:r>
              <a:rPr dirty="0" spc="-15"/>
              <a:t>操作流程</a:t>
            </a:r>
          </a:p>
        </p:txBody>
      </p:sp>
      <p:sp>
        <p:nvSpPr>
          <p:cNvPr id="12" name="object 12" descr=""/>
          <p:cNvSpPr/>
          <p:nvPr/>
        </p:nvSpPr>
        <p:spPr>
          <a:xfrm>
            <a:off x="571498" y="571498"/>
            <a:ext cx="76200" cy="502920"/>
          </a:xfrm>
          <a:custGeom>
            <a:avLst/>
            <a:gdLst/>
            <a:ahLst/>
            <a:cxnLst/>
            <a:rect l="l" t="t" r="r" b="b"/>
            <a:pathLst>
              <a:path w="76200" h="502919">
                <a:moveTo>
                  <a:pt x="76199" y="502888"/>
                </a:moveTo>
                <a:lnTo>
                  <a:pt x="0" y="502888"/>
                </a:lnTo>
                <a:lnTo>
                  <a:pt x="0" y="0"/>
                </a:lnTo>
                <a:lnTo>
                  <a:pt x="76199" y="0"/>
                </a:lnTo>
                <a:lnTo>
                  <a:pt x="76199" y="502888"/>
                </a:lnTo>
                <a:close/>
              </a:path>
            </a:pathLst>
          </a:custGeom>
          <a:solidFill>
            <a:srgbClr val="00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231406" y="3662610"/>
            <a:ext cx="1094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45">
                <a:solidFill>
                  <a:srgbClr val="003366"/>
                </a:solidFill>
                <a:latin typeface="Arial Black"/>
                <a:cs typeface="Arial Black"/>
              </a:rPr>
              <a:t>1.</a:t>
            </a:r>
            <a:r>
              <a:rPr dirty="0" sz="1400" spc="-13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400" spc="65">
                <a:solidFill>
                  <a:srgbClr val="003366"/>
                </a:solidFill>
                <a:latin typeface="MS PGothic"/>
                <a:cs typeface="MS PGothic"/>
              </a:rPr>
              <a:t>配制</a:t>
            </a:r>
            <a:r>
              <a:rPr dirty="0" sz="1400" b="1">
                <a:solidFill>
                  <a:srgbClr val="003366"/>
                </a:solidFill>
                <a:latin typeface="Microsoft JhengHei"/>
                <a:cs typeface="Microsoft JhengHei"/>
              </a:rPr>
              <a:t>饱</a:t>
            </a:r>
            <a:r>
              <a:rPr dirty="0" sz="1400" spc="-25">
                <a:solidFill>
                  <a:srgbClr val="003366"/>
                </a:solidFill>
                <a:latin typeface="MS PGothic"/>
                <a:cs typeface="MS PGothic"/>
              </a:rPr>
              <a:t>和液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181425" y="3662610"/>
            <a:ext cx="9455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5">
                <a:solidFill>
                  <a:srgbClr val="003366"/>
                </a:solidFill>
                <a:latin typeface="Arial Black"/>
                <a:cs typeface="Arial Black"/>
              </a:rPr>
              <a:t>2.</a:t>
            </a:r>
            <a:r>
              <a:rPr dirty="0" sz="1400" spc="-17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400" spc="65">
                <a:solidFill>
                  <a:srgbClr val="003366"/>
                </a:solidFill>
                <a:latin typeface="MS PGothic"/>
                <a:cs typeface="MS PGothic"/>
              </a:rPr>
              <a:t>恒温</a:t>
            </a:r>
            <a:r>
              <a:rPr dirty="0" sz="1400" spc="-25" b="1">
                <a:solidFill>
                  <a:srgbClr val="003366"/>
                </a:solidFill>
                <a:latin typeface="Microsoft JhengHei"/>
                <a:cs typeface="Microsoft JhengHei"/>
              </a:rPr>
              <a:t>过滤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051071" y="3662610"/>
            <a:ext cx="9544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003366"/>
                </a:solidFill>
                <a:latin typeface="Arial Black"/>
                <a:cs typeface="Arial Black"/>
              </a:rPr>
              <a:t>3.</a:t>
            </a:r>
            <a:r>
              <a:rPr dirty="0" sz="1400" spc="-16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400" spc="65">
                <a:solidFill>
                  <a:srgbClr val="003366"/>
                </a:solidFill>
                <a:latin typeface="MS PGothic"/>
                <a:cs typeface="MS PGothic"/>
              </a:rPr>
              <a:t>蒸</a:t>
            </a:r>
            <a:r>
              <a:rPr dirty="0" sz="1400" spc="40" b="1">
                <a:solidFill>
                  <a:srgbClr val="003366"/>
                </a:solidFill>
                <a:latin typeface="Microsoft JhengHei"/>
                <a:cs typeface="Microsoft JhengHei"/>
              </a:rPr>
              <a:t>发结</a:t>
            </a:r>
            <a:r>
              <a:rPr dirty="0" sz="1400" spc="-50">
                <a:solidFill>
                  <a:srgbClr val="003366"/>
                </a:solidFill>
                <a:latin typeface="MS PGothic"/>
                <a:cs typeface="MS PGothic"/>
              </a:rPr>
              <a:t>晶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915907" y="3662610"/>
            <a:ext cx="96964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003366"/>
                </a:solidFill>
                <a:latin typeface="Arial Black"/>
                <a:cs typeface="Arial Black"/>
              </a:rPr>
              <a:t>4.</a:t>
            </a:r>
            <a:r>
              <a:rPr dirty="0" sz="1400" spc="-12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400" spc="65">
                <a:solidFill>
                  <a:srgbClr val="003366"/>
                </a:solidFill>
                <a:latin typeface="MS PGothic"/>
                <a:cs typeface="MS PGothic"/>
              </a:rPr>
              <a:t>称重</a:t>
            </a:r>
            <a:r>
              <a:rPr dirty="0" sz="1400" b="1">
                <a:solidFill>
                  <a:srgbClr val="003366"/>
                </a:solidFill>
                <a:latin typeface="Microsoft JhengHei"/>
                <a:cs typeface="Microsoft JhengHei"/>
              </a:rPr>
              <a:t>计</a:t>
            </a:r>
            <a:r>
              <a:rPr dirty="0" sz="1400" spc="-50">
                <a:solidFill>
                  <a:srgbClr val="003366"/>
                </a:solidFill>
                <a:latin typeface="MS PGothic"/>
                <a:cs typeface="MS PGothic"/>
              </a:rPr>
              <a:t>算</a:t>
            </a:r>
            <a:endParaRPr sz="14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571498" y="2228100"/>
          <a:ext cx="11125200" cy="345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7295"/>
                <a:gridCol w="2112010"/>
                <a:gridCol w="2429510"/>
                <a:gridCol w="2691765"/>
                <a:gridCol w="2597150"/>
              </a:tblGrid>
              <a:tr h="692785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1650" spc="-2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温度 (℃)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209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165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溶剂⽔质量 </a:t>
                      </a:r>
                      <a:r>
                        <a:rPr dirty="0" sz="1650" spc="-2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(g)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209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165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析出溶质质量 </a:t>
                      </a:r>
                      <a:r>
                        <a:rPr dirty="0" sz="1650" spc="-2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(g)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209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1650" spc="-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实验计算溶解度 </a:t>
                      </a:r>
                      <a:r>
                        <a:rPr dirty="0" sz="1650" spc="-2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(g)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209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459740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165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标准参考值 </a:t>
                      </a:r>
                      <a:r>
                        <a:rPr dirty="0" sz="1650" spc="-2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(g)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2090">
                    <a:solidFill>
                      <a:srgbClr val="003366"/>
                    </a:solidFill>
                  </a:tcPr>
                </a:tc>
              </a:tr>
              <a:tr h="700405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1650" spc="-25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20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2090"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CFD6E6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1650" spc="-1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25.00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2090"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CFD6E6"/>
                    </a:solidFill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1650" spc="-2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8.35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2090"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CFD6E6"/>
                    </a:solidFill>
                  </a:tcPr>
                </a:tc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1650" spc="-2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35.8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2090"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CFD6E6"/>
                    </a:solidFill>
                  </a:tcPr>
                </a:tc>
                <a:tc>
                  <a:txBody>
                    <a:bodyPr/>
                    <a:lstStyle/>
                    <a:p>
                      <a:pPr marL="459740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1650" spc="-2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3G.0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2090"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CFD6E6"/>
                    </a:solidFill>
                  </a:tcPr>
                </a:tc>
              </a:tr>
              <a:tr h="68707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dirty="0" sz="1650" spc="-25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40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04470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dirty="0" sz="1650" spc="-1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25.00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04470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dirty="0" sz="1650" spc="-2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3.15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04470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dirty="0" sz="1650" spc="-2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3G.G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04470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459740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dirty="0" sz="1650" spc="-2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3G.G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04470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68707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dirty="0" sz="1650" spc="-25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G0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0185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CFD6E6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dirty="0" sz="1650" spc="-1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25.00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0185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CFD6E6"/>
                    </a:solidFill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dirty="0" sz="1650" spc="-2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3.32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0185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CFD6E6"/>
                    </a:solidFill>
                  </a:tcPr>
                </a:tc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dirty="0" sz="1650" spc="-2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37.3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0185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CFD6E6"/>
                    </a:solidFill>
                  </a:tcPr>
                </a:tc>
                <a:tc>
                  <a:txBody>
                    <a:bodyPr/>
                    <a:lstStyle/>
                    <a:p>
                      <a:pPr marL="459740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dirty="0" sz="1650" spc="-2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37.3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0185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CFD6E6"/>
                    </a:solidFill>
                  </a:tcPr>
                </a:tc>
              </a:tr>
              <a:tr h="68707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1650" spc="-25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80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5900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1650" spc="-1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25.00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5900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1650" spc="-2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3.58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5900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1650" spc="-2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38.3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5900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459740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1650" spc="-20">
                          <a:solidFill>
                            <a:srgbClr val="444444"/>
                          </a:solidFill>
                          <a:latin typeface="Microsoft JhengHei"/>
                          <a:cs typeface="Microsoft JhengHei"/>
                        </a:rPr>
                        <a:t>38.4</a:t>
                      </a:r>
                      <a:endParaRPr sz="16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215900">
                    <a:lnT w="9525">
                      <a:solidFill>
                        <a:srgbClr val="E1E8EF"/>
                      </a:solidFill>
                      <a:prstDash val="solid"/>
                    </a:lnT>
                    <a:lnB w="9525">
                      <a:solidFill>
                        <a:srgbClr val="E1E8E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298" y="542034"/>
            <a:ext cx="390207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 b="1">
                <a:latin typeface="Microsoft JhengHei"/>
                <a:cs typeface="Microsoft JhengHei"/>
              </a:rPr>
              <a:t>实验测</a:t>
            </a:r>
            <a:r>
              <a:rPr dirty="0" spc="100"/>
              <a:t>定数据</a:t>
            </a:r>
            <a:r>
              <a:rPr dirty="0" spc="100" b="1">
                <a:latin typeface="Microsoft JhengHei"/>
                <a:cs typeface="Microsoft JhengHei"/>
              </a:rPr>
              <a:t>记录</a:t>
            </a:r>
            <a:r>
              <a:rPr dirty="0" spc="-50"/>
              <a:t>表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571498" y="571498"/>
            <a:ext cx="76200" cy="502920"/>
          </a:xfrm>
          <a:custGeom>
            <a:avLst/>
            <a:gdLst/>
            <a:ahLst/>
            <a:cxnLst/>
            <a:rect l="l" t="t" r="r" b="b"/>
            <a:pathLst>
              <a:path w="76200" h="502919">
                <a:moveTo>
                  <a:pt x="76199" y="502888"/>
                </a:moveTo>
                <a:lnTo>
                  <a:pt x="0" y="502888"/>
                </a:lnTo>
                <a:lnTo>
                  <a:pt x="0" y="0"/>
                </a:lnTo>
                <a:lnTo>
                  <a:pt x="76199" y="0"/>
                </a:lnTo>
                <a:lnTo>
                  <a:pt x="76199" y="502888"/>
                </a:lnTo>
                <a:close/>
              </a:path>
            </a:pathLst>
          </a:custGeom>
          <a:solidFill>
            <a:srgbClr val="00CCC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1455397"/>
            <a:ext cx="11048977" cy="48310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425837" y="5625360"/>
            <a:ext cx="534035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">
                <a:solidFill>
                  <a:srgbClr val="444444"/>
                </a:solidFill>
                <a:latin typeface="Microsoft JhengHei"/>
                <a:cs typeface="Microsoft JhengHei"/>
              </a:rPr>
              <a:t>分析：氯化钠的溶解度受温度影响较⼩，溶解度曲线呈平缓增⻓态势。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4">
                <a:latin typeface="Arial Black"/>
                <a:cs typeface="Arial Black"/>
              </a:rPr>
              <a:t>NaCl</a:t>
            </a:r>
            <a:r>
              <a:rPr dirty="0" spc="-390">
                <a:latin typeface="Arial Black"/>
                <a:cs typeface="Arial Black"/>
              </a:rPr>
              <a:t> </a:t>
            </a:r>
            <a:r>
              <a:rPr dirty="0" spc="-55"/>
              <a:t>溶解度随温度 </a:t>
            </a:r>
            <a:r>
              <a:rPr dirty="0" spc="100" b="1">
                <a:latin typeface="Microsoft JhengHei"/>
                <a:cs typeface="Microsoft JhengHei"/>
              </a:rPr>
              <a:t>变</a:t>
            </a:r>
            <a:r>
              <a:rPr dirty="0" spc="100"/>
              <a:t>化</a:t>
            </a:r>
            <a:r>
              <a:rPr dirty="0" spc="-25" b="1">
                <a:latin typeface="Microsoft JhengHei"/>
                <a:cs typeface="Microsoft JhengHei"/>
              </a:rPr>
              <a:t>趋势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571498" y="571498"/>
            <a:ext cx="76200" cy="502920"/>
          </a:xfrm>
          <a:custGeom>
            <a:avLst/>
            <a:gdLst/>
            <a:ahLst/>
            <a:cxnLst/>
            <a:rect l="l" t="t" r="r" b="b"/>
            <a:pathLst>
              <a:path w="76200" h="502919">
                <a:moveTo>
                  <a:pt x="76199" y="502888"/>
                </a:moveTo>
                <a:lnTo>
                  <a:pt x="0" y="502888"/>
                </a:lnTo>
                <a:lnTo>
                  <a:pt x="0" y="0"/>
                </a:lnTo>
                <a:lnTo>
                  <a:pt x="76199" y="0"/>
                </a:lnTo>
                <a:lnTo>
                  <a:pt x="76199" y="502888"/>
                </a:lnTo>
                <a:close/>
              </a:path>
            </a:pathLst>
          </a:custGeom>
          <a:solidFill>
            <a:srgbClr val="00CCC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3907172"/>
            <a:ext cx="11048977" cy="166091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39798" y="4381393"/>
            <a:ext cx="1029335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444444"/>
                </a:solidFill>
                <a:latin typeface="Microsoft JhengHei"/>
                <a:cs typeface="Microsoft JhengHei"/>
              </a:rPr>
              <a:t>氯化钠的溶解度曲线随温度上升表现出</a:t>
            </a:r>
            <a:r>
              <a:rPr dirty="0" sz="1650" b="1">
                <a:solidFill>
                  <a:srgbClr val="444444"/>
                </a:solidFill>
                <a:latin typeface="Microsoft JhengHei"/>
                <a:cs typeface="Microsoft JhengHei"/>
              </a:rPr>
              <a:t>微弱的上升趋势</a:t>
            </a: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。这解释了为何在提纯氯化钠时，通常采⽤“蒸发结晶”</a:t>
            </a:r>
            <a:endParaRPr sz="16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650" spc="-5">
                <a:solidFill>
                  <a:srgbClr val="444444"/>
                </a:solidFill>
                <a:latin typeface="Microsoft JhengHei"/>
                <a:cs typeface="Microsoft JhengHei"/>
              </a:rPr>
              <a:t>⽽⾮“降温结晶”的⽅法。</a:t>
            </a:r>
            <a:endParaRPr sz="1650">
              <a:latin typeface="Microsoft JhengHei"/>
              <a:cs typeface="Microsoft Jheng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04239" y="2122829"/>
            <a:ext cx="2021205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 spc="-180" b="1">
                <a:solidFill>
                  <a:srgbClr val="003366"/>
                </a:solidFill>
                <a:latin typeface="Microsoft JhengHei"/>
                <a:cs typeface="Microsoft JhengHei"/>
              </a:rPr>
              <a:t>3G.0</a:t>
            </a:r>
            <a:endParaRPr sz="7500">
              <a:latin typeface="Microsoft JhengHei"/>
              <a:cs typeface="Microsoft Jheng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15014" y="3104283"/>
            <a:ext cx="179958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00CCCC"/>
                </a:solidFill>
                <a:latin typeface="Microsoft JhengHei"/>
                <a:cs typeface="Microsoft JhengHei"/>
              </a:rPr>
              <a:t>20℃</a:t>
            </a:r>
            <a:r>
              <a:rPr dirty="0" sz="1800" spc="-25" b="1">
                <a:solidFill>
                  <a:srgbClr val="00CCCC"/>
                </a:solidFill>
                <a:latin typeface="Microsoft JhengHei"/>
                <a:cs typeface="Microsoft JhengHei"/>
              </a:rPr>
              <a:t>时溶解度 (g)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966852" y="2122829"/>
            <a:ext cx="2021205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 spc="-180" b="1">
                <a:solidFill>
                  <a:srgbClr val="003366"/>
                </a:solidFill>
                <a:latin typeface="Microsoft JhengHei"/>
                <a:cs typeface="Microsoft JhengHei"/>
              </a:rPr>
              <a:t>~4.1</a:t>
            </a:r>
            <a:endParaRPr sz="7500">
              <a:latin typeface="Microsoft JhengHei"/>
              <a:cs typeface="Microsoft Jheng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129063" y="3104283"/>
            <a:ext cx="16967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 b="1">
                <a:solidFill>
                  <a:srgbClr val="00CCCC"/>
                </a:solidFill>
                <a:latin typeface="Microsoft JhengHei"/>
                <a:cs typeface="Microsoft JhengHei"/>
              </a:rPr>
              <a:t>0-</a:t>
            </a:r>
            <a:r>
              <a:rPr dirty="0" sz="1800" spc="-40" b="1">
                <a:solidFill>
                  <a:srgbClr val="00CCCC"/>
                </a:solidFill>
                <a:latin typeface="Microsoft JhengHei"/>
                <a:cs typeface="Microsoft JhengHei"/>
              </a:rPr>
              <a:t>100</a:t>
            </a:r>
            <a:r>
              <a:rPr dirty="0" sz="1800" spc="-15" b="1">
                <a:solidFill>
                  <a:srgbClr val="00CCCC"/>
                </a:solidFill>
                <a:latin typeface="Microsoft JhengHei"/>
                <a:cs typeface="Microsoft JhengHei"/>
              </a:rPr>
              <a:t>℃增幅 </a:t>
            </a:r>
            <a:r>
              <a:rPr dirty="0" sz="1800" spc="-25" b="1">
                <a:solidFill>
                  <a:srgbClr val="00CCCC"/>
                </a:solidFill>
                <a:latin typeface="Microsoft JhengHei"/>
                <a:cs typeface="Microsoft JhengHei"/>
              </a:rPr>
              <a:t>(g)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49298" y="542034"/>
            <a:ext cx="254000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latin typeface="Microsoft JhengHei"/>
                <a:cs typeface="Microsoft JhengHei"/>
              </a:rPr>
              <a:t>实验结论总结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571498" y="571498"/>
            <a:ext cx="76200" cy="502920"/>
          </a:xfrm>
          <a:custGeom>
            <a:avLst/>
            <a:gdLst/>
            <a:ahLst/>
            <a:cxnLst/>
            <a:rect l="l" t="t" r="r" b="b"/>
            <a:pathLst>
              <a:path w="76200" h="502919">
                <a:moveTo>
                  <a:pt x="76199" y="502888"/>
                </a:moveTo>
                <a:lnTo>
                  <a:pt x="0" y="502888"/>
                </a:lnTo>
                <a:lnTo>
                  <a:pt x="0" y="0"/>
                </a:lnTo>
                <a:lnTo>
                  <a:pt x="76199" y="0"/>
                </a:lnTo>
                <a:lnTo>
                  <a:pt x="76199" y="502888"/>
                </a:lnTo>
                <a:close/>
              </a:path>
            </a:pathLst>
          </a:custGeom>
          <a:solidFill>
            <a:srgbClr val="00CCC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143489" y="3985566"/>
            <a:ext cx="1905000" cy="19685"/>
          </a:xfrm>
          <a:custGeom>
            <a:avLst/>
            <a:gdLst/>
            <a:ahLst/>
            <a:cxnLst/>
            <a:rect l="l" t="t" r="r" b="b"/>
            <a:pathLst>
              <a:path w="1905000" h="19685">
                <a:moveTo>
                  <a:pt x="1904996" y="19199"/>
                </a:moveTo>
                <a:lnTo>
                  <a:pt x="0" y="19199"/>
                </a:lnTo>
                <a:lnTo>
                  <a:pt x="0" y="0"/>
                </a:lnTo>
                <a:lnTo>
                  <a:pt x="1904996" y="0"/>
                </a:lnTo>
                <a:lnTo>
                  <a:pt x="1904996" y="19199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826113" y="4887312"/>
            <a:ext cx="5397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0">
                <a:solidFill>
                  <a:srgbClr val="878787"/>
                </a:solidFill>
                <a:latin typeface="Microsoft JhengHei"/>
                <a:cs typeface="Microsoft JhengHei"/>
              </a:rPr>
              <a:t>姚靖昊</a:t>
            </a:r>
            <a:endParaRPr sz="1350">
              <a:latin typeface="Microsoft JhengHei"/>
              <a:cs typeface="Microsoft JhengHe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38" y="1257297"/>
            <a:ext cx="952498" cy="7619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04647" y="2355210"/>
            <a:ext cx="2365375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140"/>
              <a:t>感</a:t>
            </a:r>
            <a:r>
              <a:rPr dirty="0" sz="4500" spc="140" b="1">
                <a:latin typeface="Microsoft JhengHei"/>
                <a:cs typeface="Microsoft JhengHei"/>
              </a:rPr>
              <a:t>谢观</a:t>
            </a:r>
            <a:r>
              <a:rPr dirty="0" sz="4500" spc="-50"/>
              <a:t>看</a:t>
            </a:r>
            <a:endParaRPr sz="45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测定氯化钠在不同温度下的溶解度实验</dc:title>
  <dcterms:created xsi:type="dcterms:W3CDTF">2026-02-26T07:51:59Z</dcterms:created>
  <dcterms:modified xsi:type="dcterms:W3CDTF">2026-02-26T07:51:59Z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2026-02-26T00:00:00Z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2026-02-26T00:00:00Z</vt:filetime>
  </property>
  <property fmtid="{D5CDD505-2E9C-101B-9397-08002B2CF9AE}" pid="5" name="Producer">
    <vt:lpwstr>3-Heights(TM) PDF Security Shell 4.8.25.2 (http://www.pdf-tools.com)</vt:lpwstr>
  </property>
</Properties>
</file>